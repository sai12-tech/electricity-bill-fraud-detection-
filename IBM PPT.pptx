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3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7706526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Sai Tope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topesai36@gmail.com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9921472645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Electricity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 Agent For Electricity Bill Fraud Detection </a:t>
            </a:r>
            <a:endParaRPr lang="en-IN" sz="2400" b="1" dirty="0">
              <a:highlight>
                <a:srgbClr val="FFFF00"/>
              </a:highlight>
            </a:endParaRPr>
          </a:p>
        </p:txBody>
      </p:sp>
      <p:pic>
        <p:nvPicPr>
          <p:cNvPr id="5" name="Picture 4">
            <a:extLst>
              <a:ext uri="{FF2B5EF4-FFF2-40B4-BE49-F238E27FC236}">
                <a16:creationId xmlns:a16="http://schemas.microsoft.com/office/drawing/2014/main" id="{F99D2EF4-79C1-C4CD-028B-900C7E2EDA20}"/>
              </a:ext>
            </a:extLst>
          </p:cNvPr>
          <p:cNvPicPr>
            <a:picLocks noChangeAspect="1"/>
          </p:cNvPicPr>
          <p:nvPr/>
        </p:nvPicPr>
        <p:blipFill>
          <a:blip r:embed="rId3"/>
          <a:stretch>
            <a:fillRect/>
          </a:stretch>
        </p:blipFill>
        <p:spPr>
          <a:xfrm>
            <a:off x="4194800" y="3729608"/>
            <a:ext cx="620724" cy="7990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970318"/>
          </a:xfrm>
          <a:prstGeom prst="rect">
            <a:avLst/>
          </a:prstGeom>
          <a:noFill/>
        </p:spPr>
        <p:txBody>
          <a:bodyPr wrap="square" rtlCol="0">
            <a:spAutoFit/>
          </a:bodyPr>
          <a:lstStyle/>
          <a:p>
            <a:pPr fontAlgn="base"/>
            <a:r>
              <a:rPr lang="en-US" b="1" dirty="0"/>
              <a:t>Problem Statement :</a:t>
            </a:r>
            <a:r>
              <a:rPr lang="en-IN" dirty="0"/>
              <a:t>AI Agent for Electricity Bill Fraud Detection</a:t>
            </a:r>
            <a:endParaRPr lang="en-US" dirty="0"/>
          </a:p>
          <a:p>
            <a:pPr fontAlgn="base"/>
            <a:endParaRPr lang="en-US" b="1" dirty="0"/>
          </a:p>
          <a:p>
            <a:pPr fontAlgn="base"/>
            <a:r>
              <a:rPr lang="en-US" b="1" dirty="0"/>
              <a:t>The Challenge</a:t>
            </a:r>
            <a:r>
              <a:rPr lang="en-US" dirty="0"/>
              <a:t> </a:t>
            </a:r>
          </a:p>
          <a:p>
            <a:pPr fontAlgn="base"/>
            <a:r>
              <a:rPr lang="en-IN" dirty="0"/>
              <a:t>Electricity fraud and billing anomalies lead to major financial losses for power distribution companies. With thousands of consumers and massive billing data, detecting suspicious consumption patterns manually is extremely difficult. Utilities need an intelligent AI system that can automatically </a:t>
            </a:r>
            <a:r>
              <a:rPr lang="en-IN" dirty="0" err="1"/>
              <a:t>analyze</a:t>
            </a:r>
            <a:r>
              <a:rPr lang="en-IN" dirty="0"/>
              <a:t> electricity usage data and identify potential fraud cases. </a:t>
            </a:r>
          </a:p>
          <a:p>
            <a:pPr fontAlgn="base"/>
            <a:endParaRPr lang="en-US" dirty="0"/>
          </a:p>
          <a:p>
            <a:pPr fontAlgn="base"/>
            <a:r>
              <a:rPr lang="en-US" b="1" dirty="0"/>
              <a:t>The Objective</a:t>
            </a:r>
            <a:r>
              <a:rPr lang="en-US" dirty="0"/>
              <a:t> </a:t>
            </a:r>
          </a:p>
          <a:p>
            <a:pPr fontAlgn="base"/>
            <a:r>
              <a:rPr lang="en-IN" dirty="0"/>
              <a:t>Build an AI Agent for Electricity Bill Fraud Detection that </a:t>
            </a:r>
            <a:r>
              <a:rPr lang="en-IN" dirty="0" err="1"/>
              <a:t>analyzes</a:t>
            </a:r>
            <a:r>
              <a:rPr lang="en-IN" dirty="0"/>
              <a:t> electricity consumption and billing records to detect abnormal patterns and flag potential fraud cases. The solution should: </a:t>
            </a:r>
          </a:p>
          <a:p>
            <a:pPr marL="342900" indent="-342900" fontAlgn="base">
              <a:buAutoNum type="arabicPeriod"/>
            </a:pPr>
            <a:r>
              <a:rPr lang="en-IN" dirty="0"/>
              <a:t>Electricity Consumption Analysis – </a:t>
            </a:r>
            <a:r>
              <a:rPr lang="en-IN" dirty="0" err="1"/>
              <a:t>Analyze</a:t>
            </a:r>
            <a:r>
              <a:rPr lang="en-IN" dirty="0"/>
              <a:t> consumer electricity usage data to understand normal consumption </a:t>
            </a:r>
            <a:r>
              <a:rPr lang="en-IN" dirty="0" err="1"/>
              <a:t>behavior</a:t>
            </a:r>
            <a:r>
              <a:rPr lang="en-IN" dirty="0"/>
              <a:t> and trends. </a:t>
            </a:r>
          </a:p>
          <a:p>
            <a:pPr marL="342900" indent="-342900" fontAlgn="base">
              <a:buAutoNum type="arabicPeriod"/>
            </a:pPr>
            <a:r>
              <a:rPr lang="en-IN" dirty="0"/>
              <a:t>. Fraud Pattern Identification – Detect suspicious activities such as sudden drops in usage, unusual spikes, or inconsistencies between meter readings and billed units. </a:t>
            </a:r>
          </a:p>
          <a:p>
            <a:pPr marL="342900" indent="-342900" fontAlgn="base">
              <a:buAutoNum type="arabicPeriod"/>
            </a:pPr>
            <a:r>
              <a:rPr lang="en-IN" dirty="0"/>
              <a:t>. AI-Based Anomaly Detection – Automatically identify consumers whose usage patterns significantly deviate from normal historical </a:t>
            </a:r>
            <a:r>
              <a:rPr lang="en-IN" dirty="0" err="1"/>
              <a:t>behavior</a:t>
            </a:r>
            <a:r>
              <a:rPr lang="en-IN" dirty="0"/>
              <a:t>. </a:t>
            </a:r>
          </a:p>
          <a:p>
            <a:pPr marL="342900" indent="-342900" fontAlgn="base">
              <a:buAutoNum type="arabicPeriod"/>
            </a:pPr>
            <a:r>
              <a:rPr lang="en-IN" dirty="0"/>
              <a:t>. Explainable AI Insights – Provide clear explanations for why a particular consumer or electricity bill is flagged as suspicious. </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pPr fontAlgn="base"/>
            <a:endParaRPr lang="en-US" b="1" dirty="0"/>
          </a:p>
          <a:p>
            <a:r>
              <a:rPr lang="en-US" b="1" dirty="0"/>
              <a:t>Proposed Solution: AI-Powered Nutrition Agent</a:t>
            </a:r>
          </a:p>
          <a:p>
            <a:pPr fontAlgn="base"/>
            <a:r>
              <a:rPr lang="en-IN" dirty="0"/>
              <a:t>The proposed </a:t>
            </a:r>
            <a:r>
              <a:rPr lang="en-IN" b="1" dirty="0"/>
              <a:t>AI Agent for Electricity Bill Fraud Detection</a:t>
            </a:r>
            <a:r>
              <a:rPr lang="en-IN" dirty="0"/>
              <a:t> uses Artificial Intelligence (AI), Machine Learning (ML), and anomaly detection techniques to automatically identify suspicious electricity billing activities, such as meter tampering, electricity theft, and abnormal consumption patterns. The system collects historical and real-time data from smart meters, billing databases, and customer records, preprocesses the data, and </a:t>
            </a:r>
            <a:r>
              <a:rPr lang="en-IN" dirty="0" err="1"/>
              <a:t>analyzes</a:t>
            </a:r>
            <a:r>
              <a:rPr lang="en-IN" dirty="0"/>
              <a:t> it using trained machine learning models to detect unusual </a:t>
            </a:r>
            <a:r>
              <a:rPr lang="en-IN" dirty="0" err="1"/>
              <a:t>behavior</a:t>
            </a:r>
            <a:r>
              <a:rPr lang="en-IN" dirty="0"/>
              <a:t>. Based on the analysis, the agent assigns a fraud risk score, generates explainable alerts, and produces detailed investigation reports for utility officials.</a:t>
            </a:r>
          </a:p>
          <a:p>
            <a:pPr fontAlgn="base"/>
            <a:r>
              <a:rPr lang="en-IN" dirty="0"/>
              <a:t>The solution continuously improves its accuracy by learning from confirmed fraud cases and integrates with existing electricity management systems to provide real-time monitoring, reduce revenue losses, improve billing transparency, and support faster, data-driven decision-making.</a:t>
            </a:r>
          </a:p>
          <a:p>
            <a:pPr marL="285750" indent="-285750" fontAlgn="base">
              <a:buFont typeface="Arial" panose="020B0604020202020204" pitchFamily="34" charset="0"/>
              <a:buChar char="•"/>
            </a:pPr>
            <a:r>
              <a:rPr lang="en-IN" dirty="0"/>
              <a:t>Develop an AI-powered system to detect electricity bill fraud automatically. </a:t>
            </a:r>
          </a:p>
          <a:p>
            <a:pPr marL="285750" indent="-285750" fontAlgn="base">
              <a:buFont typeface="Arial" panose="020B0604020202020204" pitchFamily="34" charset="0"/>
              <a:buChar char="•"/>
            </a:pPr>
            <a:r>
              <a:rPr lang="en-IN" dirty="0"/>
              <a:t>Collect data from smart meters, billing records, and customer databases. </a:t>
            </a:r>
          </a:p>
          <a:p>
            <a:pPr marL="285750" indent="-285750" fontAlgn="base">
              <a:buFont typeface="Arial" panose="020B0604020202020204" pitchFamily="34" charset="0"/>
              <a:buChar char="•"/>
            </a:pPr>
            <a:r>
              <a:rPr lang="en-IN" dirty="0"/>
              <a:t>Clean and preprocess the collected data for accurate analysis. </a:t>
            </a:r>
          </a:p>
          <a:p>
            <a:pPr marL="285750" indent="-285750" fontAlgn="base">
              <a:buFont typeface="Arial" panose="020B0604020202020204" pitchFamily="34" charset="0"/>
              <a:buChar char="•"/>
            </a:pPr>
            <a:r>
              <a:rPr lang="en-IN" dirty="0"/>
              <a:t>Use Machine Learning algorithms to detect abnormal consumption patterns.</a:t>
            </a:r>
          </a:p>
          <a:p>
            <a:pPr marL="285750" indent="-285750" fontAlgn="base">
              <a:buFont typeface="Arial" panose="020B0604020202020204" pitchFamily="34" charset="0"/>
              <a:buChar char="•"/>
            </a:pPr>
            <a:r>
              <a:rPr lang="en-IN" dirty="0"/>
              <a:t> Identify meter tampering, electricity theft, and billing inconsistencies. Compare current electricity usage with historical consumption trends.</a:t>
            </a: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124754"/>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IN" b="1" dirty="0"/>
              <a:t>Chat Input</a:t>
            </a:r>
            <a:r>
              <a:rPr lang="en-IN" dirty="0"/>
              <a:t> Accepts the user's query (e.g., "</a:t>
            </a:r>
            <a:r>
              <a:rPr lang="en-IN" dirty="0" err="1"/>
              <a:t>Analyze</a:t>
            </a:r>
            <a:r>
              <a:rPr lang="en-IN" dirty="0"/>
              <a:t> this electricity bill for fraud"). </a:t>
            </a:r>
          </a:p>
          <a:p>
            <a:pPr marL="285750" indent="-285750">
              <a:buFont typeface="Arial" panose="020B0604020202020204" pitchFamily="34" charset="0"/>
              <a:buChar char="•"/>
            </a:pPr>
            <a:r>
              <a:rPr lang="en-IN" b="1" dirty="0"/>
              <a:t>Prompt Template</a:t>
            </a:r>
            <a:r>
              <a:rPr lang="en-IN" dirty="0"/>
              <a:t> Defines the AI's role and instructions. </a:t>
            </a:r>
          </a:p>
          <a:p>
            <a:pPr marL="285750" indent="-285750">
              <a:buFont typeface="Arial" panose="020B0604020202020204" pitchFamily="34" charset="0"/>
              <a:buChar char="•"/>
            </a:pPr>
            <a:r>
              <a:rPr lang="en-IN" b="1" dirty="0"/>
              <a:t>LLM (OpenAI / Gemini / </a:t>
            </a:r>
            <a:r>
              <a:rPr lang="en-IN" b="1" dirty="0" err="1"/>
              <a:t>Groq</a:t>
            </a:r>
            <a:r>
              <a:rPr lang="en-IN" b="1" dirty="0"/>
              <a:t> / </a:t>
            </a:r>
            <a:r>
              <a:rPr lang="en-IN" b="1" dirty="0" err="1"/>
              <a:t>Ollama</a:t>
            </a:r>
            <a:r>
              <a:rPr lang="en-IN" b="1" dirty="0"/>
              <a:t>)</a:t>
            </a:r>
            <a:r>
              <a:rPr lang="en-IN" dirty="0"/>
              <a:t> Processes the prompt and performs reasoning on the provided data. </a:t>
            </a:r>
          </a:p>
          <a:p>
            <a:pPr marL="285750" indent="-285750">
              <a:buFont typeface="Arial" panose="020B0604020202020204" pitchFamily="34" charset="0"/>
              <a:buChar char="•"/>
            </a:pPr>
            <a:r>
              <a:rPr lang="en-IN" b="1" dirty="0"/>
              <a:t>File Input / CSV Loader</a:t>
            </a:r>
            <a:r>
              <a:rPr lang="en-IN" dirty="0"/>
              <a:t> Uploads electricity billing records, smart meter data, or customer consumption history. </a:t>
            </a:r>
          </a:p>
          <a:p>
            <a:pPr marL="285750" indent="-285750">
              <a:buFont typeface="Arial" panose="020B0604020202020204" pitchFamily="34" charset="0"/>
              <a:buChar char="•"/>
            </a:pPr>
            <a:r>
              <a:rPr lang="en-IN" b="1" dirty="0"/>
              <a:t>Data Parser / Text Splitter</a:t>
            </a:r>
            <a:r>
              <a:rPr lang="en-IN" dirty="0"/>
              <a:t> Extracts and structures relevant information from uploaded files.</a:t>
            </a:r>
          </a:p>
          <a:p>
            <a:pPr marL="285750" indent="-285750">
              <a:buFont typeface="Arial" panose="020B0604020202020204" pitchFamily="34" charset="0"/>
              <a:buChar char="•"/>
            </a:pPr>
            <a:r>
              <a:rPr lang="en-IN" b="1" dirty="0"/>
              <a:t>Conditional Router</a:t>
            </a:r>
            <a:r>
              <a:rPr lang="en-IN" dirty="0"/>
              <a:t> Routes cases based on fraud score: </a:t>
            </a:r>
          </a:p>
          <a:p>
            <a:pPr marL="285750" lvl="1" indent="-285750">
              <a:buFont typeface="Arial" panose="020B0604020202020204" pitchFamily="34" charset="0"/>
              <a:buChar char="•"/>
            </a:pPr>
            <a:r>
              <a:rPr lang="en-IN" b="1" dirty="0"/>
              <a:t>Low Risk</a:t>
            </a:r>
            <a:r>
              <a:rPr lang="en-IN" dirty="0"/>
              <a:t> (0–30) </a:t>
            </a:r>
          </a:p>
          <a:p>
            <a:pPr marL="285750" lvl="1" indent="-285750">
              <a:buFont typeface="Arial" panose="020B0604020202020204" pitchFamily="34" charset="0"/>
              <a:buChar char="•"/>
            </a:pPr>
            <a:r>
              <a:rPr lang="en-IN" b="1" dirty="0"/>
              <a:t>Medium Risk</a:t>
            </a:r>
            <a:r>
              <a:rPr lang="en-IN" dirty="0"/>
              <a:t> (31–70) </a:t>
            </a:r>
          </a:p>
          <a:p>
            <a:pPr marL="285750" lvl="1" indent="-285750">
              <a:buFont typeface="Arial" panose="020B0604020202020204" pitchFamily="34" charset="0"/>
              <a:buChar char="•"/>
            </a:pPr>
            <a:r>
              <a:rPr lang="en-IN" b="1" dirty="0"/>
              <a:t>High Risk</a:t>
            </a:r>
            <a:r>
              <a:rPr lang="en-IN" dirty="0"/>
              <a:t> (71–100) </a:t>
            </a:r>
          </a:p>
          <a:p>
            <a:pPr marL="285750" indent="-285750">
              <a:buFont typeface="Arial" panose="020B0604020202020204" pitchFamily="34" charset="0"/>
              <a:buChar char="•"/>
            </a:pPr>
            <a:r>
              <a:rPr lang="en-IN" b="1" dirty="0"/>
              <a:t>Memory Component</a:t>
            </a:r>
            <a:r>
              <a:rPr lang="en-IN" dirty="0"/>
              <a:t> Maintains conversation context for follow-up investigations. </a:t>
            </a:r>
          </a:p>
          <a:p>
            <a:pPr marL="285750" indent="-285750">
              <a:buFont typeface="Arial" panose="020B0604020202020204" pitchFamily="34" charset="0"/>
              <a:buChar char="•"/>
            </a:pPr>
            <a:r>
              <a:rPr lang="en-IN" b="1" dirty="0"/>
              <a:t>Output Parser</a:t>
            </a:r>
            <a:r>
              <a:rPr lang="en-IN" dirty="0"/>
              <a:t> Formats the response into a structured report. </a:t>
            </a:r>
          </a:p>
          <a:p>
            <a:pPr marL="285750" indent="-285750">
              <a:buFont typeface="Arial" panose="020B0604020202020204" pitchFamily="34" charset="0"/>
              <a:buChar char="•"/>
            </a:pPr>
            <a:r>
              <a:rPr lang="en-IN" b="1" dirty="0"/>
              <a:t>Chat Output</a:t>
            </a:r>
            <a:r>
              <a:rPr lang="en-IN" dirty="0"/>
              <a:t> Displays: </a:t>
            </a:r>
          </a:p>
          <a:p>
            <a:pPr marL="285750" lvl="1" indent="-285750">
              <a:buFont typeface="Arial" panose="020B0604020202020204" pitchFamily="34" charset="0"/>
              <a:buChar char="•"/>
            </a:pPr>
            <a:r>
              <a:rPr lang="en-IN" dirty="0"/>
              <a:t>Fraud Risk Score </a:t>
            </a:r>
          </a:p>
          <a:p>
            <a:pPr marL="285750" lvl="1" indent="-285750">
              <a:buFont typeface="Arial" panose="020B0604020202020204" pitchFamily="34" charset="0"/>
              <a:buChar char="•"/>
            </a:pPr>
            <a:r>
              <a:rPr lang="en-IN" dirty="0"/>
              <a:t>Detected anomalies </a:t>
            </a:r>
          </a:p>
          <a:p>
            <a:pPr marL="285750" lvl="1" indent="-285750">
              <a:buFont typeface="Arial" panose="020B0604020202020204" pitchFamily="34" charset="0"/>
              <a:buChar char="•"/>
            </a:pPr>
            <a:r>
              <a:rPr lang="en-IN" dirty="0"/>
              <a:t>Possible fraud type </a:t>
            </a:r>
          </a:p>
          <a:p>
            <a:pPr marL="285750" lvl="1" indent="-285750">
              <a:buFont typeface="Arial" panose="020B0604020202020204" pitchFamily="34" charset="0"/>
              <a:buChar char="•"/>
            </a:pPr>
            <a:r>
              <a:rPr lang="en-IN" dirty="0"/>
              <a:t>Recommended actions</a:t>
            </a:r>
          </a:p>
          <a:p>
            <a:pPr marL="285750" indent="-285750">
              <a:buFont typeface="Arial" panose="020B0604020202020204" pitchFamily="34" charset="0"/>
              <a:buChar char="•"/>
            </a:pPr>
            <a:endParaRPr lang="en-IN" dirty="0"/>
          </a:p>
          <a:p>
            <a:pPr marL="342900" indent="-34290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IN" dirty="0"/>
              <a:t>Agentic AI plays a vital role in </a:t>
            </a:r>
            <a:r>
              <a:rPr lang="en-IN" b="1" dirty="0"/>
              <a:t>electricity fraud detection</a:t>
            </a:r>
            <a:r>
              <a:rPr lang="en-IN" dirty="0"/>
              <a:t> by autonomously monitoring, </a:t>
            </a:r>
            <a:r>
              <a:rPr lang="en-IN" dirty="0" err="1"/>
              <a:t>analyzing</a:t>
            </a:r>
            <a:r>
              <a:rPr lang="en-IN" dirty="0"/>
              <a:t>, and responding to suspicious electricity consumption and billing activities. Unlike traditional rule-based systems, Agentic AI can make decisions, adapt to new fraud patterns, and collaborate with multiple tools and data sources to detect electricity theft, meter tampering, and billing anomalies more accurately. It continuously processes data from smart meters, billing systems, IoT devices, and customer records to identify unusual consumption patterns, assign fraud risk scores, and generate real-time alerts for utility companies. The AI agent can also automate repetitive tasks such as data collection, report generation, and fraud case prioritization, enabling investigators to focus on high-risk cases. By learning from confirmed fraud incidents, Agentic AI continuously improves its detection models, reducing false positives and increasing detection accuracy. Overall, Agentic AI enhances operational efficiency, minimizes revenue losses, improves billing transparency, supports faster investigations, and enables electricity providers to make data-driven decisions for preventing fraud and ensuring reliable energy distribution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buFont typeface="Arial" panose="020B0604020202020204" pitchFamily="34" charset="0"/>
              <a:buChar char="•"/>
            </a:pPr>
            <a:r>
              <a:rPr lang="en-IN" sz="1800" b="1" dirty="0"/>
              <a:t>Integration with Smart Grids and IoT:</a:t>
            </a:r>
            <a:r>
              <a:rPr lang="en-IN" sz="1800" dirty="0"/>
              <a:t> The AI agent can be integrated with smart grids and IoT-enabled smart meters to monitor electricity consumption in real time, enabling faster detection of fraud and reducing revenue losses.</a:t>
            </a:r>
          </a:p>
          <a:p>
            <a:pPr marL="285750" indent="-285750">
              <a:buFont typeface="Arial" panose="020B0604020202020204" pitchFamily="34" charset="0"/>
              <a:buChar char="•"/>
            </a:pPr>
            <a:r>
              <a:rPr lang="en-IN" sz="1800" b="1" dirty="0"/>
              <a:t>Advanced AI and Continuous Learning:</a:t>
            </a:r>
            <a:r>
              <a:rPr lang="en-IN" sz="1800" dirty="0"/>
              <a:t> Future versions can use advanced machine learning and deep learning models that continuously learn from new fraud patterns, improving detection accuracy while reducing false alarms.</a:t>
            </a:r>
          </a:p>
          <a:p>
            <a:pPr marL="285750" indent="-285750">
              <a:buFont typeface="Arial" panose="020B0604020202020204" pitchFamily="34" charset="0"/>
              <a:buChar char="•"/>
            </a:pPr>
            <a:r>
              <a:rPr lang="en-IN" sz="1800" b="1" dirty="0"/>
              <a:t>Scalable and Cloud-Based Deployment:</a:t>
            </a:r>
            <a:r>
              <a:rPr lang="en-IN" sz="1800" dirty="0"/>
              <a:t> The system can be deployed on cloud platforms to monitor millions of consumers across different regions, automate fraud investigations, and support predictive analytics for efficient electricity distribution.</a:t>
            </a:r>
          </a:p>
          <a:p>
            <a:pPr marL="285750" indent="-285750">
              <a:buFont typeface="Arial" panose="020B0604020202020204" pitchFamily="34" charset="0"/>
              <a:buChar char="•"/>
            </a:pPr>
            <a:r>
              <a:rPr lang="en-IN" sz="1800" b="1" dirty="0"/>
              <a:t>Blockchain for Secure Billing:</a:t>
            </a:r>
            <a:r>
              <a:rPr lang="en-IN" sz="1800" dirty="0"/>
              <a:t> Future systems can integrate blockchain technology to create tamper-proof billing records and secure transaction logs. This will increase transparency, prevent unauthorized modifications to billing data, and strengthen trust between electricity providers and consumers. </a:t>
            </a:r>
            <a:r>
              <a:rPr lang="en-IN" sz="1800" b="1" dirty="0"/>
              <a:t>Automated Decision Support and Predictive Analytics:</a:t>
            </a:r>
            <a:r>
              <a:rPr lang="en-IN" sz="1800" dirty="0"/>
              <a:t> The AI agent can evolve into a complete decision-support system by automatically prioritizing high-risk fraud cases, recommending inspection schedules, and predicting future fraud trends. This will help utility companies allocate resources more efficiently and take preventive actions before significant financial losses occur.</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1EC2FCB4-BB69-1A97-2A46-840693B8B697}"/>
              </a:ext>
            </a:extLst>
          </p:cNvPr>
          <p:cNvPicPr>
            <a:picLocks noChangeAspect="1"/>
          </p:cNvPicPr>
          <p:nvPr/>
        </p:nvPicPr>
        <p:blipFill>
          <a:blip r:embed="rId2"/>
          <a:stretch>
            <a:fillRect/>
          </a:stretch>
        </p:blipFill>
        <p:spPr>
          <a:xfrm>
            <a:off x="2701750" y="1466573"/>
            <a:ext cx="6788499" cy="539142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6EB41E0-3B0C-99EB-390A-A491649512E7}"/>
              </a:ext>
            </a:extLst>
          </p:cNvPr>
          <p:cNvPicPr>
            <a:picLocks noChangeAspect="1"/>
          </p:cNvPicPr>
          <p:nvPr/>
        </p:nvPicPr>
        <p:blipFill>
          <a:blip r:embed="rId2"/>
          <a:stretch>
            <a:fillRect/>
          </a:stretch>
        </p:blipFill>
        <p:spPr>
          <a:xfrm rot="5400000">
            <a:off x="3588277" y="99801"/>
            <a:ext cx="4813058" cy="748344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1372</Words>
  <Application>Microsoft Office PowerPoint</Application>
  <PresentationFormat>Widescreen</PresentationFormat>
  <Paragraphs>109</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Sai Tope</cp:lastModifiedBy>
  <cp:revision>15</cp:revision>
  <dcterms:created xsi:type="dcterms:W3CDTF">2025-07-08T05:06:56Z</dcterms:created>
  <dcterms:modified xsi:type="dcterms:W3CDTF">2026-07-15T05:39:36Z</dcterms:modified>
</cp:coreProperties>
</file>